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639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431C6-BEB5-0B17-2E86-2265017E4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E1F41-C33E-E666-F744-7657AA81B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FCF7A-578B-5F25-DD99-0259736C4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7BC59-0C32-8390-A235-33151DAB1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17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68305-93CA-64E5-0641-EA1B46B3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9A1FA-42C5-33D2-8893-4DF12D715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14F32-D7A5-42C6-AEA3-173623551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B369C-0D1D-7C39-D5CA-10F0C97E6A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72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6576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920" y="36576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36576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36576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14300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114300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14300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66760" y="114300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192024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92024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92024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92024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69748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269748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269748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269748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347472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347472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347472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6760" y="347472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425196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425196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425196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425196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20040"/>
            <a:ext cx="292608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0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EDF6"/>
                </a:solidFill>
              </a:rPr>
              <a:t>SRM INSTITUTE OF SCIENCE &amp; TECHNOLOGY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Security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Center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457200" y="2423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Agentic AI</a:t>
            </a:r>
            <a:endParaRPr lang="en-US" sz="4200" dirty="0"/>
          </a:p>
        </p:txBody>
      </p:sp>
      <p:sp>
        <p:nvSpPr>
          <p:cNvPr id="32" name="Shape 30"/>
          <p:cNvSpPr/>
          <p:nvPr/>
        </p:nvSpPr>
        <p:spPr>
          <a:xfrm>
            <a:off x="457200" y="3310128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Presentation  •  Dept. of CSE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480560"/>
            <a:ext cx="1965960" cy="384048"/>
          </a:xfrm>
          <a:prstGeom prst="rect">
            <a:avLst/>
          </a:prstGeom>
          <a:solidFill>
            <a:srgbClr val="15205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457200" y="4480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S. Venkat Bharath</a:t>
            </a:r>
          </a:p>
        </p:txBody>
      </p:sp>
      <p:sp>
        <p:nvSpPr>
          <p:cNvPr id="36" name="Shape 34"/>
          <p:cNvSpPr/>
          <p:nvPr/>
        </p:nvSpPr>
        <p:spPr>
          <a:xfrm>
            <a:off x="2606040" y="4480560"/>
            <a:ext cx="1965960" cy="384048"/>
          </a:xfrm>
          <a:prstGeom prst="rect">
            <a:avLst/>
          </a:prstGeom>
          <a:solidFill>
            <a:srgbClr val="15205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0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6"/>
                </a:solidFill>
              </a:rPr>
              <a:t>V. Bhavani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51886-B9D3-349F-6EAF-0BCF5B82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150C57-57CE-4A07-6534-B0476EC6F8E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E35E63-FFE5-0C2F-6E71-09107BEB3242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ABSTRACT</a:t>
            </a:r>
            <a:endParaRPr lang="en-US" sz="2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9E27E6-3280-1FC1-4884-DB24130670D0}"/>
              </a:ext>
            </a:extLst>
          </p:cNvPr>
          <p:cNvSpPr txBox="1"/>
          <p:nvPr/>
        </p:nvSpPr>
        <p:spPr>
          <a:xfrm>
            <a:off x="226978" y="727290"/>
            <a:ext cx="850586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Modern Security Operations Centers (SOCs) face a critical operational crisis: analysts are overwhelmed by 1,000+ daily alerts with 60-70% false positive rates, leading to 287-day average breach detection times and a global shortfall of 4.8 million cybersecurity professionals. Traditional SOAR platforms offer static, rule-based automation that cannot reason, adapt, or operate autonomously.</a:t>
            </a:r>
          </a:p>
          <a:p>
            <a:endParaRPr lang="en-US" sz="1300" dirty="0"/>
          </a:p>
          <a:p>
            <a:r>
              <a:rPr lang="en-US" sz="1300" dirty="0"/>
              <a:t>This project proposes an Autonomous SOC powered by Agentic AI, implementing six specialized agents: Orchestrator, Triage, Enrichment, Threat Hunting, Response, and Learning agents. Built on </a:t>
            </a:r>
            <a:r>
              <a:rPr lang="en-US" sz="1300" dirty="0" err="1"/>
              <a:t>LangGraph</a:t>
            </a:r>
            <a:r>
              <a:rPr lang="en-US" sz="1300" dirty="0"/>
              <a:t> for stateful multi-agent coordination and Claude Sonnet 4 (200k context window) as the core reasoning engine, agents perform domain-specific security functions autonomously using structured tool calls, dynamic workflow routing, and shared memory via </a:t>
            </a:r>
            <a:r>
              <a:rPr lang="en-US" sz="1300" dirty="0" err="1"/>
              <a:t>Qdrant</a:t>
            </a:r>
            <a:r>
              <a:rPr lang="en-US" sz="1300" dirty="0"/>
              <a:t> vector database.</a:t>
            </a:r>
          </a:p>
          <a:p>
            <a:endParaRPr lang="en-US" sz="1300" dirty="0"/>
          </a:p>
          <a:p>
            <a:r>
              <a:rPr lang="en-US" sz="1300" dirty="0"/>
              <a:t>The system ingests alerts from SIEM/EDR/IDS sources, performs autonomous triage and severity scoring (0.0-1.0), enriches Indicators of Compromise through </a:t>
            </a:r>
            <a:r>
              <a:rPr lang="en-US" sz="1300" dirty="0" err="1"/>
              <a:t>VirusTotal</a:t>
            </a:r>
            <a:r>
              <a:rPr lang="en-US" sz="1300" dirty="0"/>
              <a:t>, </a:t>
            </a:r>
            <a:r>
              <a:rPr lang="en-US" sz="1300" dirty="0" err="1"/>
              <a:t>AbuseIPDB</a:t>
            </a:r>
            <a:r>
              <a:rPr lang="en-US" sz="1300" dirty="0"/>
              <a:t>, and AlienVault OTX APIs, maps attack patterns to MITRE ATT&amp;CK framework, and executes automated containment including IP blocking, host isolation, and process termination. A learning agent continuously improves playbooks through reinforcement from analyst feedback.</a:t>
            </a:r>
          </a:p>
          <a:p>
            <a:endParaRPr lang="en-US" sz="1300" dirty="0"/>
          </a:p>
          <a:p>
            <a:r>
              <a:rPr lang="en-US" sz="1300" dirty="0"/>
              <a:t>Expected outcomes: 90% reduction in Mean Time to Conclusion from 287 days to under 3 minutes, 80%+ automation rate, less than 5% false positive rate, and $0.10 per alert processing cost versus $2-$5 for commercial SOAR platforms. Deployed on Kubernetes with 99.5% uptime SLA, targeting enterprise SOCs, MSSPs, and mid-market organizations.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53368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9144"/>
            <a:ext cx="9144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" y="0"/>
            <a:ext cx="8631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227141"/>
            <a:ext cx="8129016" cy="723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SOCs Are Failing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84832" cy="3200400"/>
          </a:xfrm>
          <a:prstGeom prst="rect">
            <a:avLst/>
          </a:prstGeom>
          <a:solidFill>
            <a:srgbClr val="152050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084832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450592"/>
            <a:ext cx="2084832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Avg. breach detection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(IBM Cost of Breach 2024)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96312" y="960120"/>
            <a:ext cx="2084832" cy="3200400"/>
          </a:xfrm>
          <a:prstGeom prst="rect">
            <a:avLst/>
          </a:prstGeom>
          <a:solidFill>
            <a:srgbClr val="152050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960120"/>
            <a:ext cx="208483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14300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496312" y="20116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Unfilled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96312" y="2450592"/>
            <a:ext cx="2084832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Global cybersecurity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jobs shortage (ISC² 2024)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18304" y="960120"/>
            <a:ext cx="2084832" cy="3200400"/>
          </a:xfrm>
          <a:prstGeom prst="rect">
            <a:avLst/>
          </a:prstGeom>
          <a:solidFill>
            <a:srgbClr val="152050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960120"/>
            <a:ext cx="208483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14300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718304" y="20116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False +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2450592"/>
            <a:ext cx="2084832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Of all alerts 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false positives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0296" y="960120"/>
            <a:ext cx="2084832" cy="3200400"/>
          </a:xfrm>
          <a:prstGeom prst="rect">
            <a:avLst/>
          </a:prstGeom>
          <a:solidFill>
            <a:srgbClr val="152050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0296" y="960120"/>
            <a:ext cx="2084832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114300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$4.88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940296" y="20116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Million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0296" y="2450592"/>
            <a:ext cx="2084832" cy="1463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Average cost of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data breach (2024)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526280"/>
            <a:ext cx="9144000" cy="61264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26280"/>
            <a:ext cx="8412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Traditional SOAR tools use static playbooks — they cannot reason, adapt, or act autonomously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EXISTING TOOLS &amp; RESEARCH GAP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5029200" cy="3520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AI?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Cortex XSOAR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Static playbooks, no AI reasoning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Splunk SOAR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Rule-based, vendor lock-in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Microsoft Sentinel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AI suggests, human still decides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Intezer Forensic AI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Proprietary, enterprise-only, $$$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CrowdStrike AI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Endpoint only, not full SOC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Suricata/Snort IDS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Signature-based, 70% false positives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804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A0"/>
                </a:solidFill>
              </a:rPr>
              <a:t>Identified Gaps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77840" y="1234440"/>
            <a:ext cx="324612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234440"/>
            <a:ext cx="10972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289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</a:rPr>
              <a:t>No True Autonomy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54533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AI suggests; humans still decide. No end-to-end autonomous investigation.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2148840"/>
            <a:ext cx="324612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148840"/>
            <a:ext cx="10972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203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</a:rPr>
              <a:t>No Multi-Agent Coordination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60720" y="245973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Single models, no specialized agents collaborating in real time.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3063240"/>
            <a:ext cx="324612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3063240"/>
            <a:ext cx="10972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31181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</a:rPr>
              <a:t>Not Open / Affordable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337413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Proprietary or $50K+ entry. Mid-market locked out.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3977640"/>
            <a:ext cx="324612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977640"/>
            <a:ext cx="10972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40325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</a:rPr>
              <a:t>No Self-Learning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760720" y="428853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Static rules that degrade over time — no feedback loop.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85" y="18288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PROPOSED SOLUTION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1828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</a:rPr>
              <a:t>Autonomous SOC — 6-Agent AI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194560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340"/>
                </a:solidFill>
              </a:rPr>
              <a:t>ORCHESTRATOR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340"/>
                </a:solidFill>
              </a:rPr>
              <a:t>AGENT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606040" cy="987552"/>
          </a:xfrm>
          <a:prstGeom prst="rect">
            <a:avLst/>
          </a:prstGeom>
          <a:solidFill>
            <a:srgbClr val="152050"/>
          </a:solidFill>
          <a:ln w="1905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2606040" cy="7315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9966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TRIAGE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3990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Severity scoring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0.0-1.0 via LLM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2606040" cy="987552"/>
          </a:xfrm>
          <a:prstGeom prst="rect">
            <a:avLst/>
          </a:prstGeom>
          <a:solidFill>
            <a:srgbClr val="152050"/>
          </a:solidFill>
          <a:ln w="1905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2606040" cy="7315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5054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ENRICHMENT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90779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VirusTotal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AbuseIPDB OTX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749040"/>
            <a:ext cx="2606040" cy="987552"/>
          </a:xfrm>
          <a:prstGeom prst="rect">
            <a:avLst/>
          </a:prstGeom>
          <a:solidFill>
            <a:srgbClr val="152050"/>
          </a:solidFill>
          <a:ln w="1905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49040"/>
            <a:ext cx="2606040" cy="7315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8770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HUNTING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427939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Vector similarity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MITRE ATT&amp;CK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37960" y="877824"/>
            <a:ext cx="2606040" cy="987552"/>
          </a:xfrm>
          <a:prstGeom prst="rect">
            <a:avLst/>
          </a:prstGeom>
          <a:solidFill>
            <a:srgbClr val="15205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873252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9966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93992" y="13990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Block IP, isolate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host, kill process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37960" y="2340864"/>
            <a:ext cx="2606040" cy="987552"/>
          </a:xfrm>
          <a:prstGeom prst="rect">
            <a:avLst/>
          </a:prstGeom>
          <a:solidFill>
            <a:srgbClr val="15205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2340864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24688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11112" y="287121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RLHF playbook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improvement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37960" y="3730752"/>
            <a:ext cx="2606040" cy="987552"/>
          </a:xfrm>
          <a:prstGeom prst="rect">
            <a:avLst/>
          </a:prstGeom>
          <a:solidFill>
            <a:srgbClr val="152050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37960" y="3730752"/>
            <a:ext cx="26060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38587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11112" y="426110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Qdrant + Redis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PostgreSQL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Built on  LangGraph  •  Claude Sonnet 4  •  FastAPI  •  PostgreSQL  •  Qdrant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21792" cy="7132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859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</a:rPr>
              <a:t>Ingestion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15214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Syslog UDP/514  •  REST API  •  Kafka Streams  •  CEF / JSON / Syslog normalizer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85953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18488"/>
            <a:ext cx="621792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1848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1673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</a:rPr>
              <a:t>Orchestration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19659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LangGraph StateGraph  •  TypedDict AgentState  •  Conditional routing  •  Workflow mgmt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85953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32304"/>
            <a:ext cx="621792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32304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</a:rPr>
              <a:t>AI Agent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7797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Triage  •  Enrichment  •  Hunting  •  Response  •  Learning  (Claude Sonnet 4)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85953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46120"/>
            <a:ext cx="6217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46120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7552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</a:rPr>
              <a:t>Memory &amp; 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35935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Qdrant vectors  •  Redis TTL cache  •  PostgreSQL persistence  •  TimescaleDB metrics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5953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59936"/>
            <a:ext cx="621792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059936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7552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40"/>
                </a:solidFill>
              </a:rPr>
              <a:t>Output &amp; 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44074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FastAPI REST  •  WebSocket  •  React Dashboard  •  Prometheus / Grafana  •  Slack alerts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AGENTS — HOW THEY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solidFill>
            <a:srgbClr val="152050"/>
          </a:solidFill>
          <a:ln w="1905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188720" cy="6858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Triage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72768" y="8869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Tool: Claude Sonnet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24528" y="8869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IN: Raw alert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01968" y="88696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6"/>
                </a:solidFill>
              </a:rPr>
              <a:t>OUT: Score 0-1, FP flag, reasoning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72768" y="1152144"/>
            <a:ext cx="7242048" cy="182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2768" y="1207008"/>
            <a:ext cx="7242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Powered by LangGraph node — stateful, retryable, observable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8595360" cy="685800"/>
          </a:xfrm>
          <a:prstGeom prst="rect">
            <a:avLst/>
          </a:prstGeom>
          <a:solidFill>
            <a:srgbClr val="15205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27632"/>
            <a:ext cx="11887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2763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Enrichment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72768" y="16916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Tool: VT + AbuseIPDB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24528" y="16916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IN: IOCs (IP/hash/URL)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01968" y="169164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6"/>
                </a:solidFill>
              </a:rPr>
              <a:t>OUT: Threat score, reputation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72768" y="1956816"/>
            <a:ext cx="7242048" cy="182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2768" y="2011680"/>
            <a:ext cx="7242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Powered by LangGraph node — stateful, retryable, observable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432304"/>
            <a:ext cx="8595360" cy="685800"/>
          </a:xfrm>
          <a:prstGeom prst="rect">
            <a:avLst/>
          </a:prstGeom>
          <a:solidFill>
            <a:srgbClr val="152050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32304"/>
            <a:ext cx="1188720" cy="685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432304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Hunting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72768" y="24963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Tool: Qdrant + RAG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24528" y="249631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IN: Alert embedding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01968" y="249631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6"/>
                </a:solidFill>
              </a:rPr>
              <a:t>OUT: Similar past cases, ATT&amp;CK map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72768" y="2761488"/>
            <a:ext cx="7242048" cy="182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72768" y="2816352"/>
            <a:ext cx="7242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Powered by LangGraph node — stateful, retryable, observable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236976"/>
            <a:ext cx="8595360" cy="685800"/>
          </a:xfrm>
          <a:prstGeom prst="rect">
            <a:avLst/>
          </a:prstGeom>
          <a:solidFill>
            <a:srgbClr val="15205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236976"/>
            <a:ext cx="118872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23697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72768" y="330098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Tool: Firewall / EDR API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24528" y="330098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IN: Action plan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01968" y="330098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6"/>
                </a:solidFill>
              </a:rPr>
              <a:t>OUT: Block IP, isolate host, kill PID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572768" y="3566160"/>
            <a:ext cx="7242048" cy="182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72768" y="3621024"/>
            <a:ext cx="7242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Powered by LangGraph node — stateful, retryable, observable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041648"/>
            <a:ext cx="8595360" cy="685800"/>
          </a:xfrm>
          <a:prstGeom prst="rect">
            <a:avLst/>
          </a:prstGeom>
          <a:solidFill>
            <a:srgbClr val="15205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041648"/>
            <a:ext cx="118872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04164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Learning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572768" y="41056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Tool: RLHF + Prompt Mgr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24528" y="410565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IN: Analyst corrections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01968" y="410565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6"/>
                </a:solidFill>
              </a:rPr>
              <a:t>OUT: Updated playbooks &amp; weights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572768" y="4370832"/>
            <a:ext cx="7242048" cy="182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72768" y="4425696"/>
            <a:ext cx="7242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Powered by LangGraph node — stateful, retryable, observable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01168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011680" cy="38404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AI / LLM Layer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Claude Sonnet 4 (Anthropic)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956816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LangGraph — multi-agent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ReAct prompting pattern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3310128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RAG via Qdrant vector DB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3986784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all-MiniLM-L6-v2 embeddings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50592" y="804672"/>
            <a:ext cx="201168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804672"/>
            <a:ext cx="201168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804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Backend API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0" y="1280160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Python 3.11+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0" y="1956816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FastAPI + Uvicorn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0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SQLAlchemy ORM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3310128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Redis cache (TTL IOC)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3986784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RabbitMQ / Kafka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26864" y="804672"/>
            <a:ext cx="201168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804672"/>
            <a:ext cx="20116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804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&amp; Storage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36592" y="1280160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PostgreSQL (alerts/cases)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36592" y="1956816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Qdrant (vector search)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36592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TimescaleDB (metrics)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36592" y="3310128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Redis (state/cache)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36592" y="3986784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MongoDB (case timeline)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03136" y="804672"/>
            <a:ext cx="201168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804672"/>
            <a:ext cx="20116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804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Threat Intel APIs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12864" y="1280160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VirusTotal v3 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12864" y="1956816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AbuseIPDB v2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12864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AlienVault OTX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12864" y="3310128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GreyNoise API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12864" y="3986784"/>
            <a:ext cx="17922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• MITRE ATT&amp;CK TAXII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21325B-6BEB-6EA2-1AAB-41DCC4EE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F35B9B-06A1-80CB-C9B8-34AD227DC22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058996-17E1-CC7E-87B6-27A86876D305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SETS PREPARATION	</a:t>
            </a:r>
            <a:endParaRPr lang="en-US" sz="2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F2BC6F-25E7-45A3-2B17-968EDABC26EE}"/>
              </a:ext>
            </a:extLst>
          </p:cNvPr>
          <p:cNvGraphicFramePr>
            <a:graphicFrameLocks noGrp="1"/>
          </p:cNvGraphicFramePr>
          <p:nvPr/>
        </p:nvGraphicFramePr>
        <p:xfrm>
          <a:off x="1600200" y="2838609"/>
          <a:ext cx="5943600" cy="325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4500">
                  <a:extLst>
                    <a:ext uri="{9D8B030D-6E8A-4147-A177-3AD203B41FA5}">
                      <a16:colId xmlns:a16="http://schemas.microsoft.com/office/drawing/2014/main" val="1362421259"/>
                    </a:ext>
                  </a:extLst>
                </a:gridCol>
                <a:gridCol w="4737100">
                  <a:extLst>
                    <a:ext uri="{9D8B030D-6E8A-4147-A177-3AD203B41FA5}">
                      <a16:colId xmlns:a16="http://schemas.microsoft.com/office/drawing/2014/main" val="69035488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705799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>
                          <a:effectLst/>
                        </a:rPr>
                        <a:t>05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50">
                          <a:effectLst/>
                        </a:rPr>
                        <a:t>Dataset Preparation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01600" marR="508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effectLst/>
                        </a:rPr>
                        <a:t>5 Marks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800" marR="50800" marT="63500" marB="63500" anchor="ctr"/>
                </a:tc>
                <a:extLst>
                  <a:ext uri="{0D108BD9-81ED-4DB2-BD59-A6C34878D82A}">
                    <a16:rowId xmlns:a16="http://schemas.microsoft.com/office/drawing/2014/main" val="32865478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232F56-BBC5-0783-979A-85B3CB93B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462622"/>
              </p:ext>
            </p:extLst>
          </p:nvPr>
        </p:nvGraphicFramePr>
        <p:xfrm>
          <a:off x="645459" y="840441"/>
          <a:ext cx="8132780" cy="40946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11551">
                  <a:extLst>
                    <a:ext uri="{9D8B030D-6E8A-4147-A177-3AD203B41FA5}">
                      <a16:colId xmlns:a16="http://schemas.microsoft.com/office/drawing/2014/main" val="2782305765"/>
                    </a:ext>
                  </a:extLst>
                </a:gridCol>
                <a:gridCol w="868886">
                  <a:extLst>
                    <a:ext uri="{9D8B030D-6E8A-4147-A177-3AD203B41FA5}">
                      <a16:colId xmlns:a16="http://schemas.microsoft.com/office/drawing/2014/main" val="2553815711"/>
                    </a:ext>
                  </a:extLst>
                </a:gridCol>
                <a:gridCol w="1563996">
                  <a:extLst>
                    <a:ext uri="{9D8B030D-6E8A-4147-A177-3AD203B41FA5}">
                      <a16:colId xmlns:a16="http://schemas.microsoft.com/office/drawing/2014/main" val="1364905075"/>
                    </a:ext>
                  </a:extLst>
                </a:gridCol>
                <a:gridCol w="3788347">
                  <a:extLst>
                    <a:ext uri="{9D8B030D-6E8A-4147-A177-3AD203B41FA5}">
                      <a16:colId xmlns:a16="http://schemas.microsoft.com/office/drawing/2014/main" val="3369422269"/>
                    </a:ext>
                  </a:extLst>
                </a:gridCol>
              </a:tblGrid>
              <a:tr h="325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Dataset Name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Size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Source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Used For in Our System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extLst>
                  <a:ext uri="{0D108BD9-81ED-4DB2-BD59-A6C34878D82A}">
                    <a16:rowId xmlns:a16="http://schemas.microsoft.com/office/drawing/2014/main" val="3535449904"/>
                  </a:ext>
                </a:extLst>
              </a:tr>
              <a:tr h="510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CICIDS 2017 / 2018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2.8M records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Univ. New Brunswick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Triage training: DoS, DDoS, PortScan, Brute Force, Web Attacks labeled.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extLst>
                  <a:ext uri="{0D108BD9-81ED-4DB2-BD59-A6C34878D82A}">
                    <a16:rowId xmlns:a16="http://schemas.microsoft.com/office/drawing/2014/main" val="2603919229"/>
                  </a:ext>
                </a:extLst>
              </a:tr>
              <a:tr h="510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UNSW-NB15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2.5M records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UNSW Canberra, AU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Network intrusion testing. 9 attack categories + normal traffic.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extLst>
                  <a:ext uri="{0D108BD9-81ED-4DB2-BD59-A6C34878D82A}">
                    <a16:rowId xmlns:a16="http://schemas.microsoft.com/office/drawing/2014/main" val="1479622098"/>
                  </a:ext>
                </a:extLst>
              </a:tr>
              <a:tr h="510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NSL-KDD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125,973 records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Knowledge Discovery Lab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Benchmark evaluation. Compare triage accuracy vs established baselines.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extLst>
                  <a:ext uri="{0D108BD9-81ED-4DB2-BD59-A6C34878D82A}">
                    <a16:rowId xmlns:a16="http://schemas.microsoft.com/office/drawing/2014/main" val="2246464300"/>
                  </a:ext>
                </a:extLst>
              </a:tr>
              <a:tr h="510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Wazuh Alert Logs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Live + synthetic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Wazuh SIEM (open-source)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Real-world JSON alert format: file integrity, vulnerability, log analysis.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extLst>
                  <a:ext uri="{0D108BD9-81ED-4DB2-BD59-A6C34878D82A}">
                    <a16:rowId xmlns:a16="http://schemas.microsoft.com/office/drawing/2014/main" val="1487563130"/>
                  </a:ext>
                </a:extLst>
              </a:tr>
              <a:tr h="705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MITRE ATT&amp;CK Dataset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600+ techniques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MITRE Corporation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Attack technique mapping to 14 tactics and 200+ techniques/sub-techniques.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extLst>
                  <a:ext uri="{0D108BD9-81ED-4DB2-BD59-A6C34878D82A}">
                    <a16:rowId xmlns:a16="http://schemas.microsoft.com/office/drawing/2014/main" val="1679747176"/>
                  </a:ext>
                </a:extLst>
              </a:tr>
              <a:tr h="510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AlienVault OTX Pulses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10M+ IOCs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AlienVault OTX API (free)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Ground truth IOC reputation for enrichment validation. Live threat intel.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extLst>
                  <a:ext uri="{0D108BD9-81ED-4DB2-BD59-A6C34878D82A}">
                    <a16:rowId xmlns:a16="http://schemas.microsoft.com/office/drawing/2014/main" val="1038004014"/>
                  </a:ext>
                </a:extLst>
              </a:tr>
              <a:tr h="510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Synthetic Generator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Custom balanced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>
                          <a:effectLst/>
                        </a:rPr>
                        <a:t>Our codebase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50" dirty="0">
                          <a:effectLst/>
                        </a:rPr>
                        <a:t>Rare scenarios: APT, zero-day, insider threat. Balances training set.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44450" marB="44450"/>
                </a:tc>
                <a:extLst>
                  <a:ext uri="{0D108BD9-81ED-4DB2-BD59-A6C34878D82A}">
                    <a16:rowId xmlns:a16="http://schemas.microsoft.com/office/drawing/2014/main" val="1350508890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0103FE63-B70C-D5CC-EBD5-7B0178AD4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4112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028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PREPARATION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Datasets Used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4663440" cy="33284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CICIDS 2017/18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2.8M rec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Triage training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UNSW-NB15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2.5M rec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IDS testing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NSL-KDD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126K rec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Benchmark eval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Wazuh Live Logs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Live+synth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Format training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AlienVault OTX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10M+ IOCs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Ground truth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Synthetic Gen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Custom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6"/>
                          </a:solidFill>
                        </a:rPr>
                        <a:t>Rare attacks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03520" y="7772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Preprocessing Pipeline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03520" y="1143000"/>
            <a:ext cx="38404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0" y="11430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340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Shape 6"/>
          <p:cNvSpPr/>
          <p:nvPr/>
        </p:nvSpPr>
        <p:spPr>
          <a:xfrm>
            <a:off x="5742432" y="1143000"/>
            <a:ext cx="3081528" cy="457200"/>
          </a:xfrm>
          <a:prstGeom prst="rect">
            <a:avLst/>
          </a:prstGeom>
          <a:solidFill>
            <a:srgbClr val="15205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15584" y="1143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6"/>
                </a:solidFill>
              </a:rPr>
              <a:t>Normalize — CEF/JSON/Syslog to schema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03520" y="1755648"/>
            <a:ext cx="38404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0" y="175564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340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42432" y="1755648"/>
            <a:ext cx="3081528" cy="457200"/>
          </a:xfrm>
          <a:prstGeom prst="rect">
            <a:avLst/>
          </a:prstGeom>
          <a:solidFill>
            <a:srgbClr val="15205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15584" y="17556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6"/>
                </a:solidFill>
              </a:rPr>
              <a:t>Deduplicate — Redis TTL, 5-min windows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03520" y="2368296"/>
            <a:ext cx="38404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0" y="236829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340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742432" y="2368296"/>
            <a:ext cx="3081528" cy="457200"/>
          </a:xfrm>
          <a:prstGeom prst="rect">
            <a:avLst/>
          </a:prstGeom>
          <a:solidFill>
            <a:srgbClr val="15205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15584" y="23682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6"/>
                </a:solidFill>
              </a:rPr>
              <a:t>Label — 10K alerts manually annotated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303520" y="2980944"/>
            <a:ext cx="38404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0" y="29809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340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742432" y="2980944"/>
            <a:ext cx="3081528" cy="457200"/>
          </a:xfrm>
          <a:prstGeom prst="rect">
            <a:avLst/>
          </a:prstGeom>
          <a:solidFill>
            <a:srgbClr val="15205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29809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6"/>
                </a:solidFill>
              </a:rPr>
              <a:t>Extract — Regex IOC: IPs, hashes, domains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03520" y="3593592"/>
            <a:ext cx="38404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0" y="35935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340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742432" y="3593592"/>
            <a:ext cx="3081528" cy="457200"/>
          </a:xfrm>
          <a:prstGeom prst="rect">
            <a:avLst/>
          </a:prstGeom>
          <a:solidFill>
            <a:srgbClr val="15205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15584" y="35935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6"/>
                </a:solidFill>
              </a:rPr>
              <a:t>Embed — 768-dim via MiniLM-L6-v2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303520" y="4206240"/>
            <a:ext cx="38404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0" y="42062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340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742432" y="4206240"/>
            <a:ext cx="3081528" cy="457200"/>
          </a:xfrm>
          <a:prstGeom prst="rect">
            <a:avLst/>
          </a:prstGeom>
          <a:solidFill>
            <a:srgbClr val="152050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15584" y="4206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6"/>
                </a:solidFill>
              </a:rPr>
              <a:t>Augment — Synthetic APT/zero-day 1:10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30% IMPLEMENTATION — LIVE DEMO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2057400" cy="384048"/>
          </a:xfrm>
          <a:prstGeom prst="rect">
            <a:avLst/>
          </a:prstGeom>
          <a:solidFill>
            <a:srgbClr val="163521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8046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Docker Infra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804672"/>
            <a:ext cx="2057400" cy="384048"/>
          </a:xfrm>
          <a:prstGeom prst="rect">
            <a:avLst/>
          </a:prstGeom>
          <a:solidFill>
            <a:srgbClr val="163521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8046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FastAPI Server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6592" y="804672"/>
            <a:ext cx="2057400" cy="384048"/>
          </a:xfrm>
          <a:prstGeom prst="rect">
            <a:avLst/>
          </a:prstGeom>
          <a:solidFill>
            <a:srgbClr val="163521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8046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Alert Ingestion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58584" y="804672"/>
            <a:ext cx="2057400" cy="384048"/>
          </a:xfrm>
          <a:prstGeom prst="rect">
            <a:avLst/>
          </a:prstGeom>
          <a:solidFill>
            <a:srgbClr val="163521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58584" y="8046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Triage Agent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1307592"/>
            <a:ext cx="2057400" cy="384048"/>
          </a:xfrm>
          <a:prstGeom prst="rect">
            <a:avLst/>
          </a:prstGeom>
          <a:solidFill>
            <a:srgbClr val="163521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307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LangGraph 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1307592"/>
            <a:ext cx="2057400" cy="384048"/>
          </a:xfrm>
          <a:prstGeom prst="rect">
            <a:avLst/>
          </a:prstGeom>
          <a:solidFill>
            <a:srgbClr val="163521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307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DB + Cache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36592" y="1307592"/>
            <a:ext cx="2057400" cy="384048"/>
          </a:xfrm>
          <a:prstGeom prst="rect">
            <a:avLst/>
          </a:prstGeom>
          <a:solidFill>
            <a:srgbClr val="163521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307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Auto Test Suite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58584" y="1307592"/>
            <a:ext cx="2057400" cy="384048"/>
          </a:xfrm>
          <a:prstGeom prst="rect">
            <a:avLst/>
          </a:prstGeom>
          <a:solidFill>
            <a:srgbClr val="32151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58584" y="1307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⟳ Enrichment Agent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920240"/>
            <a:ext cx="8595360" cy="2633472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920240"/>
            <a:ext cx="859536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● ● ●  Terminal — demo session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258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http://localhost:8000/health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24963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{"status":"healthy","anthropic":"configured","db":"healthy"}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27340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.../alerts -d '{"source":"wazuh","event_type":"ransomware","severity":"high","raw_data":{"host":"srv-01","process":"crypto.exe","files_encrypted":1500}}'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2095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{"id":"8fa3e2..","status":"new"}   # Alert queued — Claude is analysing...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3447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3685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.../alerts/8fa3e2..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39227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{"triage_score":0.94,"severity":"critical","is_false_positive":"False",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"triage_reasoning":"Ransomware detected — mass file encryption + C2 comms. Immediate containment required."}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340"/>
          </a:solidFill>
          <a:ln w="12700">
            <a:solidFill>
              <a:srgbClr val="0B1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EXPECTED OUTCOMES &amp; KPIs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412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Mean Time to 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1325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 Days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27632" y="1463040"/>
            <a:ext cx="82296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26187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19072" y="1207008"/>
            <a:ext cx="1234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18688" y="777240"/>
            <a:ext cx="27889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18688" y="8412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Automation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18688" y="1207008"/>
            <a:ext cx="1325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82296" cy="2743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26187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56A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1207008"/>
            <a:ext cx="1234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63056" y="777240"/>
            <a:ext cx="27889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63056" y="8412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Cost Per Alert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63056" y="1207008"/>
            <a:ext cx="1325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$2–$5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516368" y="1463040"/>
            <a:ext cx="82296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43216" y="126187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07808" y="1207008"/>
            <a:ext cx="1234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33472"/>
          <a:ext cx="8595360" cy="235915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Gain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False Positive 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60-70%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&lt; 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12× reduction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Analyst Capacity / Day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50-100 alerts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5,000+ alerts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50× throughput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 Intel Enrichment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30-60 min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&lt; 10 sec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99% faster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MITRE ATT&amp;CK Coverage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95%+ auto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 automation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System Uptime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99.5% K8s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Production SLA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REFERENCES (2023–2025)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57200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[1]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777240"/>
            <a:ext cx="8339328" cy="420624"/>
          </a:xfrm>
          <a:prstGeom prst="rect">
            <a:avLst/>
          </a:prstGeom>
          <a:solidFill>
            <a:srgbClr val="15205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81381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6"/>
                </a:solidFill>
              </a:rPr>
              <a:t>A. Kumar et al. — Agentic AI for Autonomous Cybersecurity — IEEE Trans. IFS, 2024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</a:rPr>
              <a:t>→ Multi-agent architecture design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307592"/>
            <a:ext cx="457200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075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[2]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307592"/>
            <a:ext cx="8339328" cy="420624"/>
          </a:xfrm>
          <a:prstGeom prst="rect">
            <a:avLst/>
          </a:prstGeom>
          <a:solidFill>
            <a:srgbClr val="15205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34416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6"/>
                </a:solidFill>
              </a:rPr>
              <a:t>L. Zhang, M. Chen — LLM-Powered SOC Triage — ACM Trans. Privacy &amp; Security, 2024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5361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</a:rPr>
              <a:t>→ Triage agent methodology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37944"/>
            <a:ext cx="457200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83794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[3]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1837944"/>
            <a:ext cx="8339328" cy="420624"/>
          </a:xfrm>
          <a:prstGeom prst="rect">
            <a:avLst/>
          </a:prstGeom>
          <a:solidFill>
            <a:srgbClr val="15205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187452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6"/>
                </a:solidFill>
              </a:rPr>
              <a:t>R. Anderson, K. Brown — SOAR Evolution to AI-Driven Response — Elsevier Computers &amp; Security, 2024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06654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</a:rPr>
              <a:t>→ SOAR gap analysis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368296"/>
            <a:ext cx="457200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682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[4]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2368296"/>
            <a:ext cx="8339328" cy="420624"/>
          </a:xfrm>
          <a:prstGeom prst="rect">
            <a:avLst/>
          </a:prstGeom>
          <a:solidFill>
            <a:srgbClr val="15205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40487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6"/>
                </a:solidFill>
              </a:rPr>
              <a:t>H. Liu, Y. Wang — Multi-Agent RL for Threat Detection — IEEE Trans. Network &amp; Svc Mgmt, 2024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259689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</a:rPr>
              <a:t>→ Multi-agent RL framework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898648"/>
            <a:ext cx="457200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986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[5]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2898648"/>
            <a:ext cx="8339328" cy="420624"/>
          </a:xfrm>
          <a:prstGeom prst="rect">
            <a:avLst/>
          </a:prstGeom>
          <a:solidFill>
            <a:srgbClr val="15205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2935224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6"/>
                </a:solidFill>
              </a:rPr>
              <a:t>J. Park, D. Kim — RAG-Enhanced Threat Intelligence with LLMs — Springer LNCS, 2024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312724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</a:rPr>
              <a:t>→ RAG in threat hunting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429000"/>
            <a:ext cx="457200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4290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[6]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7240" y="3429000"/>
            <a:ext cx="8339328" cy="420624"/>
          </a:xfrm>
          <a:prstGeom prst="rect">
            <a:avLst/>
          </a:prstGeom>
          <a:solidFill>
            <a:srgbClr val="15205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4655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6"/>
                </a:solidFill>
              </a:rPr>
              <a:t>F. Olmedo, A. Santos — Automated MITRE ATT&amp;CK Mapping via LLMs — Elsevier JISA, 2024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" y="365760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</a:rPr>
              <a:t>→ ATT&amp;CK auto-mapping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959352"/>
            <a:ext cx="457200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9593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[7]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7240" y="3959352"/>
            <a:ext cx="8339328" cy="420624"/>
          </a:xfrm>
          <a:prstGeom prst="rect">
            <a:avLst/>
          </a:prstGeom>
          <a:solidFill>
            <a:srgbClr val="15205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399592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6"/>
                </a:solidFill>
              </a:rPr>
              <a:t>T. Williams, R. Singh — Graph Orchestration for AI Security Agents — IEEE TDSC, 2025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" y="41879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</a:rPr>
              <a:t>→ LangGraph-style workflow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489704"/>
            <a:ext cx="457200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4897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[8]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" y="4489704"/>
            <a:ext cx="8339328" cy="420624"/>
          </a:xfrm>
          <a:prstGeom prst="rect">
            <a:avLst/>
          </a:prstGeom>
          <a:solidFill>
            <a:srgbClr val="15205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452628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6"/>
                </a:solidFill>
              </a:rPr>
              <a:t>M. Zhao, X. Li — Explainable AI for Incident Response — ACM Computing Surveys, 2024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68680" y="471830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</a:rPr>
              <a:t>→ XAI audit trails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45720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45720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45720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128016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128016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128016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210312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10312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210312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292608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292608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292608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374904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374904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3749040"/>
            <a:ext cx="64008" cy="64008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7315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6"/>
                </a:solidFill>
              </a:rPr>
              <a:t>Autonomous SOC Using Agentic 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SRM Institute of Science &amp; Technology  •  Dept. of CSE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1693</Words>
  <Application>Microsoft Office PowerPoint</Application>
  <PresentationFormat>On-screen Show (16:9)</PresentationFormat>
  <Paragraphs>329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SOC Using Agentic AI</dc:title>
  <dc:subject>PptxGenJS Presentation</dc:subject>
  <dc:creator>SOC Team</dc:creator>
  <cp:lastModifiedBy>Putta Pramodh</cp:lastModifiedBy>
  <cp:revision>2</cp:revision>
  <dcterms:created xsi:type="dcterms:W3CDTF">2026-02-17T12:16:33Z</dcterms:created>
  <dcterms:modified xsi:type="dcterms:W3CDTF">2026-02-17T12:37:43Z</dcterms:modified>
</cp:coreProperties>
</file>